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C3539"/>
                </a:solidFill>
              </a:defRPr>
            </a:pPr>
            <a:r>
              <a:t>Alberta's Oil Sands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0288D1"/>
                </a:solidFill>
              </a:defRPr>
            </a:pPr>
            <a:r>
              <a:t>The Monitoring Gap Blocking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16161"/>
                </a:solidFill>
              </a:defRPr>
            </a:pPr>
            <a:r>
              <a:t>Luminous BioSolutions</a:t>
            </a:r>
          </a:p>
          <a:p>
            <a:r>
              <a:t>Science-backed monitoring for water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539"/>
                </a:solidFill>
              </a:defRPr>
            </a:pPr>
            <a:r>
              <a:t>The Problem: Massive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4400" b="1">
                <a:solidFill>
                  <a:srgbClr val="F57C00"/>
                </a:solidFill>
              </a:defRPr>
            </a:pPr>
            <a:r>
              <a:t>1.4 Trillion litres</a:t>
            </a:r>
          </a:p>
          <a:p>
            <a:pPr>
              <a:spcAft>
                <a:spcPts val="1600"/>
              </a:spcAft>
              <a:defRPr sz="1400">
                <a:solidFill>
                  <a:srgbClr val="2C3539"/>
                </a:solidFill>
              </a:defRPr>
            </a:pPr>
            <a:r>
              <a:t>560,000 Olympic pools • Size of Calgary (300 km²)</a:t>
            </a:r>
          </a:p>
          <a:p>
            <a:pPr>
              <a:spcAft>
                <a:spcPts val="800"/>
              </a:spcAft>
              <a:defRPr sz="1800" b="1">
                <a:solidFill>
                  <a:srgbClr val="2C3539"/>
                </a:solidFill>
              </a:defRPr>
            </a:pPr>
            <a:r>
              <a:t>60+ years of 'Zero Discharge' policy</a:t>
            </a:r>
          </a:p>
          <a:p>
            <a:pPr>
              <a:spcAft>
                <a:spcPts val="400"/>
              </a:spcAft>
              <a:defRPr sz="1300">
                <a:solidFill>
                  <a:srgbClr val="2C3539"/>
                </a:solidFill>
              </a:defRPr>
            </a:pPr>
            <a:r>
              <a:t>• Water recycled or stored indefinitely - never released</a:t>
            </a:r>
          </a:p>
          <a:p>
            <a:pPr>
              <a:spcAft>
                <a:spcPts val="1600"/>
              </a:spcAft>
              <a:defRPr sz="1300">
                <a:solidFill>
                  <a:srgbClr val="2C3539"/>
                </a:solidFill>
              </a:defRPr>
            </a:pPr>
            <a:r>
              <a:t>• Naphthenic Acids (NAs) are the primary blocker preventing regulatory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749039"/>
            <a:ext cx="8046720" cy="64008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These obligations sit on balance sheets TODAY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Long-dated environmental liabilities discounted over 60 years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539"/>
                </a:solidFill>
              </a:defRPr>
            </a:pPr>
            <a:r>
              <a:t>The Hidden Balance Sheet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8046720" cy="64008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</a:defRPr>
            </a:pPr>
            <a:r>
              <a:t>Combined Asset Retirement Obligations: $20+ Billion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Long-dated environmental liabilities discounted over ~60 years at 4.8-6.0%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560320" cy="822960"/>
          </a:xfrm>
          <a:prstGeom prst="rect">
            <a:avLst/>
          </a:prstGeom>
          <a:solidFill>
            <a:srgbClr val="E3F2FD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400"/>
              </a:spcAft>
              <a:defRPr sz="2800" b="1">
                <a:solidFill>
                  <a:srgbClr val="0288D1"/>
                </a:solidFill>
              </a:defRPr>
            </a:pPr>
            <a:r>
              <a:t>$1.9B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CNRL</a:t>
            </a:r>
            <a:br/>
            <a:r>
              <a:t>Oil Sands Mining &amp; Upgrading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828800"/>
            <a:ext cx="2560320" cy="822960"/>
          </a:xfrm>
          <a:prstGeom prst="rect">
            <a:avLst/>
          </a:prstGeom>
          <a:solidFill>
            <a:srgbClr val="E3F2FD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400"/>
              </a:spcAft>
              <a:defRPr sz="2800" b="1">
                <a:solidFill>
                  <a:srgbClr val="0288D1"/>
                </a:solidFill>
              </a:defRPr>
            </a:pPr>
            <a:r>
              <a:t>$12.3B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Suncor</a:t>
            </a:r>
            <a:br/>
            <a:r>
              <a:t>Total Decommissioning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828800"/>
            <a:ext cx="2560320" cy="822960"/>
          </a:xfrm>
          <a:prstGeom prst="rect">
            <a:avLst/>
          </a:prstGeom>
          <a:solidFill>
            <a:srgbClr val="E3F2FD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400"/>
              </a:spcAft>
              <a:defRPr sz="2800" b="1">
                <a:solidFill>
                  <a:srgbClr val="0288D1"/>
                </a:solidFill>
              </a:defRPr>
            </a:pPr>
            <a:r>
              <a:t>$2.6B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Imperial</a:t>
            </a:r>
            <a:br/>
            <a:r>
              <a:t>ARO &amp; Environmental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8046720" cy="1371600"/>
          </a:xfrm>
          <a:prstGeom prst="rect">
            <a:avLst/>
          </a:prstGeom>
          <a:solidFill>
            <a:srgbClr val="FFF3E0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2C3539"/>
                </a:solidFill>
              </a:defRPr>
            </a:pPr>
            <a:r>
              <a:t>Monitoring certainty reduces conservative assumptions</a:t>
            </a:r>
          </a:p>
          <a:p>
            <a:pPr>
              <a:defRPr sz="1200">
                <a:solidFill>
                  <a:srgbClr val="2C3539"/>
                </a:solidFill>
              </a:defRPr>
            </a:pPr>
            <a:r>
              <a:t>60-year discounting makes small improvements = big balance sheet impact. Better data justifies less conservative rates and timelines.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Source: Max Zhang ARO Analysis (2026), Company financial statements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539"/>
                </a:solidFill>
              </a:defRPr>
            </a:pPr>
            <a:r>
              <a:t>Crisis Converging: Why Now?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3840480" cy="1097280"/>
          </a:xfrm>
          <a:prstGeom prst="rect">
            <a:avLst/>
          </a:prstGeom>
          <a:solidFill>
            <a:srgbClr val="E3F2FD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1600" b="1">
                <a:solidFill>
                  <a:srgbClr val="0288D1"/>
                </a:solidFill>
              </a:defRPr>
            </a:pPr>
            <a:r>
              <a:t>Economic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Double oil production requires more water. Without NA reduction, production constrained.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005840"/>
            <a:ext cx="3840480" cy="1097280"/>
          </a:xfrm>
          <a:prstGeom prst="rect">
            <a:avLst/>
          </a:prstGeom>
          <a:solidFill>
            <a:srgbClr val="E3F2FD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1600" b="1">
                <a:solidFill>
                  <a:srgbClr val="0288D1"/>
                </a:solidFill>
              </a:defRPr>
            </a:pPr>
            <a:r>
              <a:t>Physical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1.4T litres approaching capacity limits. Ponds growing faster than evaporation.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3840480" cy="1097280"/>
          </a:xfrm>
          <a:prstGeom prst="rect">
            <a:avLst/>
          </a:prstGeom>
          <a:solidFill>
            <a:srgbClr val="E3F2FD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1600" b="1">
                <a:solidFill>
                  <a:srgbClr val="0288D1"/>
                </a:solidFill>
              </a:defRPr>
            </a:pPr>
            <a:r>
              <a:t>Regulatory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Release standards expected 2026-27. NAs explicitly identified as key contaminant.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2286000"/>
            <a:ext cx="3840480" cy="1097280"/>
          </a:xfrm>
          <a:prstGeom prst="rect">
            <a:avLst/>
          </a:prstGeom>
          <a:solidFill>
            <a:srgbClr val="E3F2FD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1600" b="1">
                <a:solidFill>
                  <a:srgbClr val="0288D1"/>
                </a:solidFill>
              </a:defRPr>
            </a:pPr>
            <a:r>
              <a:t>Social License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Indigenous communities demand verifiable NA proof. "If you drink the water, we will consider release."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74720"/>
            <a:ext cx="8046720" cy="640080"/>
          </a:xfrm>
          <a:prstGeom prst="rect">
            <a:avLst/>
          </a:prstGeom>
          <a:solidFill>
            <a:srgbClr val="FFF3E0"/>
          </a:solidFill>
          <a:ln w="254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600" b="1">
                <a:solidFill>
                  <a:srgbClr val="F57C00"/>
                </a:solidFill>
              </a:defRPr>
            </a:pPr>
            <a:r>
              <a:t>The status quo—indefinite containment—is no longer sustainable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539"/>
                </a:solidFill>
              </a:defRPr>
            </a:pPr>
            <a:r>
              <a:t>The Monitoring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288D1"/>
                </a:solidFill>
              </a:defRPr>
            </a:pPr>
            <a:r>
              <a:t>"You can't regulate what you can't measure"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2C3539"/>
                </a:solidFill>
              </a:defRPr>
            </a:pPr>
            <a:r>
              <a:t>Treatment technologies exist. But operators are flying blind.</a:t>
            </a:r>
          </a:p>
          <a:p>
            <a:pPr>
              <a:defRPr sz="1300">
                <a:solidFill>
                  <a:srgbClr val="616161"/>
                </a:solidFill>
              </a:defRPr>
            </a:pPr>
            <a:r>
              <a:t>The test that's fast enough (FTIR) is too inaccurate. The test that's accurate enough (HRMS) is too slow.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840480" cy="137160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1600" b="1">
                <a:solidFill>
                  <a:srgbClr val="C62828"/>
                </a:solidFill>
              </a:defRPr>
            </a:pPr>
            <a:r>
              <a:t>FTIR Screening</a:t>
            </a:r>
          </a:p>
          <a:p>
            <a:pPr>
              <a:spcAft>
                <a:spcPts val="600"/>
              </a:spcAft>
              <a:defRPr sz="1200" b="1">
                <a:solidFill>
                  <a:srgbClr val="2C3539"/>
                </a:solidFill>
              </a:defRPr>
            </a:pPr>
            <a:r>
              <a:t>Fast but inaccurate</a:t>
            </a:r>
          </a:p>
          <a:p>
            <a:pPr>
              <a:spcAft>
                <a:spcPts val="200"/>
              </a:spcAft>
              <a:defRPr sz="1100">
                <a:solidFill>
                  <a:srgbClr val="2C3539"/>
                </a:solidFill>
              </a:defRPr>
            </a:pPr>
            <a:r>
              <a:t>• Results in minutes</a:t>
            </a:r>
          </a:p>
          <a:p>
            <a:pPr>
              <a:spcAft>
                <a:spcPts val="200"/>
              </a:spcAft>
              <a:defRPr sz="1100">
                <a:solidFill>
                  <a:srgbClr val="2C3539"/>
                </a:solidFill>
              </a:defRPr>
            </a:pPr>
            <a:r>
              <a:t>• Cannot distinguish toxic NAs from harmless organics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• High false positive/negative rates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828800"/>
            <a:ext cx="3840480" cy="137160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1600" b="1">
                <a:solidFill>
                  <a:srgbClr val="C62828"/>
                </a:solidFill>
              </a:defRPr>
            </a:pPr>
            <a:r>
              <a:t>HRMS (Gold Standard)</a:t>
            </a:r>
          </a:p>
          <a:p>
            <a:pPr>
              <a:spcAft>
                <a:spcPts val="600"/>
              </a:spcAft>
              <a:defRPr sz="1200" b="1">
                <a:solidFill>
                  <a:srgbClr val="2C3539"/>
                </a:solidFill>
              </a:defRPr>
            </a:pPr>
            <a:r>
              <a:t>Accurate but too slow</a:t>
            </a:r>
          </a:p>
          <a:p>
            <a:pPr>
              <a:spcAft>
                <a:spcPts val="200"/>
              </a:spcAft>
              <a:defRPr sz="1100">
                <a:solidFill>
                  <a:srgbClr val="2C3539"/>
                </a:solidFill>
              </a:defRPr>
            </a:pPr>
            <a:r>
              <a:t>• 4-8 weeks for results</a:t>
            </a:r>
          </a:p>
          <a:p>
            <a:pPr>
              <a:spcAft>
                <a:spcPts val="200"/>
              </a:spcAft>
              <a:defRPr sz="1100">
                <a:solidFill>
                  <a:srgbClr val="2C3539"/>
                </a:solidFill>
              </a:defRPr>
            </a:pPr>
            <a:r>
              <a:t>• $500-$1,000 per sample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• Cannot run inline at treatment plants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83280"/>
            <a:ext cx="8046720" cy="914400"/>
          </a:xfrm>
          <a:prstGeom prst="rect">
            <a:avLst/>
          </a:prstGeom>
          <a:solidFill>
            <a:srgbClr val="FFF3E0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600"/>
              </a:spcAft>
              <a:defRPr sz="1600" b="1">
                <a:solidFill>
                  <a:srgbClr val="F57C00"/>
                </a:solidFill>
              </a:defRPr>
            </a:pPr>
            <a:r>
              <a:t>Real Example: Multi-season wetland study</a:t>
            </a:r>
          </a:p>
          <a:p>
            <a:pPr>
              <a:defRPr sz="1300">
                <a:solidFill>
                  <a:srgbClr val="2C3539"/>
                </a:solidFill>
              </a:defRPr>
            </a:pPr>
            <a:r>
              <a:t>9 NA samples over two field seasons. Degradation decline detected 6 months too late to optimize treatment.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539"/>
                </a:solidFill>
              </a:defRPr>
            </a:pPr>
            <a:r>
              <a:t>The Solution: Bridge the Monitoring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560320" cy="1280160"/>
          </a:xfrm>
          <a:prstGeom prst="rect">
            <a:avLst/>
          </a:prstGeom>
          <a:solidFill>
            <a:srgbClr val="E8F5E9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</a:defRPr>
            </a:pPr>
            <a:r>
              <a:t>Tier 1: Compliance</a:t>
            </a:r>
          </a:p>
          <a:p>
            <a:pPr>
              <a:spcAft>
                <a:spcPts val="400"/>
              </a:spcAft>
              <a:defRPr sz="1100" b="1">
                <a:solidFill>
                  <a:srgbClr val="2C3539"/>
                </a:solidFill>
              </a:defRPr>
            </a:pPr>
            <a:r>
              <a:t>HRMS (Gold Standard)</a:t>
            </a:r>
          </a:p>
          <a:p>
            <a:pPr>
              <a:defRPr sz="1000">
                <a:solidFill>
                  <a:srgbClr val="2C3539"/>
                </a:solidFill>
              </a:defRPr>
            </a:pPr>
            <a:r>
              <a:t>• Quarterly validation</a:t>
            </a:r>
            <a:br/>
            <a:r>
              <a:t>• Regulatory reporting</a:t>
            </a:r>
            <a:br/>
            <a:r>
              <a:t>• Forensic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7560" y="1005840"/>
            <a:ext cx="2560320" cy="1280160"/>
          </a:xfrm>
          <a:prstGeom prst="rect">
            <a:avLst/>
          </a:prstGeom>
          <a:solidFill>
            <a:srgbClr val="E3F2FD"/>
          </a:solidFill>
          <a:ln w="381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0288D1"/>
                </a:solidFill>
              </a:defRPr>
            </a:pPr>
            <a:r>
              <a:t>Tier 2: Operations</a:t>
            </a:r>
          </a:p>
          <a:p>
            <a:pPr>
              <a:spcAft>
                <a:spcPts val="400"/>
              </a:spcAft>
              <a:defRPr sz="1100" b="1">
                <a:solidFill>
                  <a:srgbClr val="2C3539"/>
                </a:solidFill>
              </a:defRPr>
            </a:pPr>
            <a:r>
              <a:t>Luminous Biosensor</a:t>
            </a:r>
          </a:p>
          <a:p>
            <a:pPr>
              <a:defRPr sz="1000">
                <a:solidFill>
                  <a:srgbClr val="2C3539"/>
                </a:solidFill>
              </a:defRPr>
            </a:pPr>
            <a:r>
              <a:t>• 24-72 hour turnaround</a:t>
            </a:r>
            <a:br/>
            <a:r>
              <a:t>• Daily to weekly monitoring</a:t>
            </a:r>
            <a:br/>
            <a:r>
              <a:t>• Bioavailable NA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005840"/>
            <a:ext cx="2560320" cy="1280160"/>
          </a:xfrm>
          <a:prstGeom prst="rect">
            <a:avLst/>
          </a:prstGeom>
          <a:solidFill>
            <a:srgbClr val="F3E5F5"/>
          </a:solidFill>
          <a:ln w="381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6A1B9A"/>
                </a:solidFill>
              </a:defRPr>
            </a:pPr>
            <a:r>
              <a:t>Tier 3: Intelligence</a:t>
            </a:r>
          </a:p>
          <a:p>
            <a:pPr>
              <a:spcAft>
                <a:spcPts val="400"/>
              </a:spcAft>
              <a:defRPr sz="1100" b="1">
                <a:solidFill>
                  <a:srgbClr val="2C3539"/>
                </a:solidFill>
              </a:defRPr>
            </a:pPr>
            <a:r>
              <a:t>Confluent Platform</a:t>
            </a:r>
          </a:p>
          <a:p>
            <a:pPr>
              <a:defRPr sz="1000">
                <a:solidFill>
                  <a:srgbClr val="2C3539"/>
                </a:solidFill>
              </a:defRPr>
            </a:pPr>
            <a:r>
              <a:t>• Real-time correlation</a:t>
            </a:r>
            <a:br/>
            <a:r>
              <a:t>• Multi-stakeholder dashboards</a:t>
            </a:r>
            <a:br/>
            <a:r>
              <a:t>• Immutable audit trail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8046720" cy="73152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400"/>
              </a:spcAft>
              <a:defRPr sz="1400" b="1">
                <a:solidFill>
                  <a:srgbClr val="2E7D32"/>
                </a:solidFill>
              </a:defRPr>
            </a:pPr>
            <a:r>
              <a:t>Peer-Reviewed &amp; Field-Validated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ACS Synthetic Biology (2024) publication. Field-tested at Kearl with high correlation to Orbitrap Mass Spec. Accepted to Creative Destruction Lab Energy Stream (2025).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91840"/>
            <a:ext cx="8046720" cy="1005840"/>
          </a:xfrm>
          <a:prstGeom prst="rect">
            <a:avLst/>
          </a:prstGeom>
          <a:solidFill>
            <a:srgbClr val="FFF3E0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spcAft>
                <a:spcPts val="600"/>
              </a:spcAft>
              <a:defRPr sz="1400" b="1">
                <a:solidFill>
                  <a:srgbClr val="2C3539"/>
                </a:solidFill>
              </a:defRPr>
            </a:pPr>
            <a:r>
              <a:t>Three-Pronged Value Chain</a:t>
            </a:r>
          </a:p>
          <a:p>
            <a:pPr>
              <a:spcAft>
                <a:spcPts val="300"/>
              </a:spcAft>
              <a:defRPr sz="1000">
                <a:solidFill>
                  <a:srgbClr val="2C3539"/>
                </a:solidFill>
              </a:defRPr>
            </a:pPr>
            <a:r>
              <a:t>1. ARO Impact: 6 months timeline reduction = $45M. 1% cost certainty = $19M. More usage = better certainty = greater reduction.</a:t>
            </a:r>
          </a:p>
          <a:p>
            <a:pPr>
              <a:spcAft>
                <a:spcPts val="300"/>
              </a:spcAft>
              <a:defRPr sz="1000">
                <a:solidFill>
                  <a:srgbClr val="2C3539"/>
                </a:solidFill>
              </a:defRPr>
            </a:pPr>
            <a:r>
              <a:t>2. Operational: Real-time optimization, extended operating seasons, faster incident detection.</a:t>
            </a:r>
          </a:p>
          <a:p>
            <a:pPr>
              <a:defRPr sz="1000">
                <a:solidFill>
                  <a:srgbClr val="2C3539"/>
                </a:solidFill>
              </a:defRPr>
            </a:pPr>
            <a:r>
              <a:t>3. Social License: Transparent data for all stakeholders builds trust and accountability.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822960"/>
            <a:ext cx="91440" cy="347472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539"/>
                </a:solidFill>
              </a:defRPr>
            </a:pPr>
            <a:r>
              <a:t>The Path Forward: Total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288D1"/>
                </a:solidFill>
              </a:defRPr>
            </a:pPr>
            <a:r>
              <a:t>Desired Outcomes: Total Confidence</a:t>
            </a:r>
          </a:p>
          <a:p>
            <a:pPr>
              <a:spcAft>
                <a:spcPts val="400"/>
              </a:spcAft>
              <a:defRPr sz="1200">
                <a:solidFill>
                  <a:srgbClr val="2C3539"/>
                </a:solidFill>
              </a:defRPr>
            </a:pPr>
            <a:r>
              <a:t>• Operators: Verifiable data to reduce ARO uncertainty, optimize real-time operations</a:t>
            </a:r>
          </a:p>
          <a:p>
            <a:pPr>
              <a:spcAft>
                <a:spcPts val="400"/>
              </a:spcAft>
              <a:defRPr sz="1200">
                <a:solidFill>
                  <a:srgbClr val="2C3539"/>
                </a:solidFill>
              </a:defRPr>
            </a:pPr>
            <a:r>
              <a:t>• Regulators: Evidence-based decisions backed by immutable audit trail</a:t>
            </a:r>
          </a:p>
          <a:p>
            <a:pPr>
              <a:spcAft>
                <a:spcPts val="400"/>
              </a:spcAft>
              <a:defRPr sz="1200">
                <a:solidFill>
                  <a:srgbClr val="2C3539"/>
                </a:solidFill>
              </a:defRPr>
            </a:pPr>
            <a:r>
              <a:t>• Communities &amp; Stakeholders: Transparent monitoring—all parties access same data</a:t>
            </a:r>
          </a:p>
          <a:p>
            <a:pPr>
              <a:defRPr sz="1200">
                <a:solidFill>
                  <a:srgbClr val="2C3539"/>
                </a:solidFill>
              </a:defRPr>
            </a:pPr>
            <a:r>
              <a:t>• Environment: Safe water release, land restored to boreal forest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14600"/>
            <a:ext cx="8046720" cy="731520"/>
          </a:xfrm>
          <a:prstGeom prst="rect">
            <a:avLst/>
          </a:prstGeom>
          <a:solidFill>
            <a:srgbClr val="E3F2FD"/>
          </a:solidFill>
          <a:ln w="5080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288D1"/>
                </a:solidFill>
              </a:defRPr>
            </a:pPr>
            <a:r>
              <a:t>From Containment to Remediation—With Certainty</a:t>
            </a:r>
          </a:p>
          <a:p>
            <a:pPr>
              <a:defRPr sz="1100">
                <a:solidFill>
                  <a:srgbClr val="2C3539"/>
                </a:solidFill>
              </a:defRPr>
            </a:pPr>
            <a:r>
              <a:t>ARO reduction through timeline compression + operational value ($260k/year validated) + trust through transparency. The real value: confidence to move forward.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256032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300"/>
              </a:spcAft>
              <a:defRPr sz="1300" b="1">
                <a:solidFill>
                  <a:srgbClr val="F57C00"/>
                </a:solidFill>
              </a:defRPr>
            </a:pPr>
            <a:r>
              <a:t>For Operators</a:t>
            </a:r>
          </a:p>
          <a:p>
            <a:pPr>
              <a:defRPr sz="1000">
                <a:solidFill>
                  <a:srgbClr val="2C3539"/>
                </a:solidFill>
              </a:defRPr>
            </a:pPr>
            <a:r>
              <a:t>Pilot program discussions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3429000"/>
            <a:ext cx="256032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300"/>
              </a:spcAft>
              <a:defRPr sz="1300" b="1">
                <a:solidFill>
                  <a:srgbClr val="F57C00"/>
                </a:solidFill>
              </a:defRPr>
            </a:pPr>
            <a:r>
              <a:t>For Investors</a:t>
            </a:r>
          </a:p>
          <a:p>
            <a:pPr>
              <a:defRPr sz="1000">
                <a:solidFill>
                  <a:srgbClr val="2C3539"/>
                </a:solidFill>
              </a:defRPr>
            </a:pPr>
            <a:r>
              <a:t>Partnership exploration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3429000"/>
            <a:ext cx="256032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300"/>
              </a:spcAft>
              <a:defRPr sz="1300" b="1">
                <a:solidFill>
                  <a:srgbClr val="F57C00"/>
                </a:solidFill>
              </a:defRPr>
            </a:pPr>
            <a:r>
              <a:t>For Stakeholders</a:t>
            </a:r>
          </a:p>
          <a:p>
            <a:pPr>
              <a:defRPr sz="1000">
                <a:solidFill>
                  <a:srgbClr val="2C3539"/>
                </a:solidFill>
              </a:defRPr>
            </a:pPr>
            <a:r>
              <a:t>Technical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539"/>
                </a:solidFill>
              </a:defRPr>
            </a:pPr>
            <a:r>
              <a:t>Luminous BioSolutions • luminousbiosolutions.com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16161"/>
                </a:solidFill>
              </a:defRPr>
            </a:pPr>
            <a:r>
              <a:t>Contact: Jeff Violo, COO • jeff@luminousbiosolutions.com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