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539"/>
                </a:solidFill>
              </a:defRPr>
            </a:pPr>
            <a:r>
              <a:t>The Crisis: A Breaking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200" b="1">
                <a:solidFill>
                  <a:srgbClr val="F57C00"/>
                </a:solidFill>
              </a:defRPr>
            </a:pPr>
            <a:r>
              <a:t>1.4 Trillion Litres</a:t>
            </a:r>
          </a:p>
          <a:p>
            <a:pPr>
              <a:spcAft>
                <a:spcPts val="2000"/>
              </a:spcAft>
              <a:defRPr sz="1400">
                <a:solidFill>
                  <a:srgbClr val="2C3539"/>
                </a:solidFill>
              </a:defRPr>
            </a:pPr>
            <a:r>
              <a:t>60 years of 'Zero Discharge' policy • 300 km² tailings ponds (size of Calgary)</a:t>
            </a:r>
          </a:p>
          <a:p>
            <a:pPr>
              <a:spcAft>
                <a:spcPts val="1000"/>
              </a:spcAft>
              <a:defRPr sz="2000" b="1">
                <a:solidFill>
                  <a:srgbClr val="2C3539"/>
                </a:solidFill>
              </a:defRPr>
            </a:pPr>
            <a:r>
              <a:t>The Convergence:</a:t>
            </a:r>
          </a:p>
          <a:p>
            <a:pPr>
              <a:spcAft>
                <a:spcPts val="600"/>
              </a:spcAft>
              <a:defRPr sz="1400">
                <a:solidFill>
                  <a:srgbClr val="2C3539"/>
                </a:solidFill>
              </a:defRPr>
            </a:pPr>
            <a:r>
              <a:t>• Alberta plans to double oil production to meet global demand</a:t>
            </a:r>
          </a:p>
          <a:p>
            <a:pPr>
              <a:spcAft>
                <a:spcPts val="600"/>
              </a:spcAft>
              <a:defRPr sz="1400">
                <a:solidFill>
                  <a:srgbClr val="2C3539"/>
                </a:solidFill>
              </a:defRPr>
            </a:pPr>
            <a:r>
              <a:t>• Current storage capacity is approaching physical limits</a:t>
            </a:r>
          </a:p>
          <a:p>
            <a:pPr>
              <a:spcAft>
                <a:spcPts val="1600"/>
              </a:spcAft>
              <a:defRPr sz="1400">
                <a:solidFill>
                  <a:srgbClr val="2C3539"/>
                </a:solidFill>
              </a:defRPr>
            </a:pPr>
            <a:r>
              <a:t>• Ponds are growing faster than water can evaporate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8046720" cy="685800"/>
          </a:xfrm>
          <a:prstGeom prst="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800" b="1">
                <a:solidFill>
                  <a:srgbClr val="F57C00"/>
                </a:solidFill>
              </a:defRPr>
            </a:pPr>
            <a:r>
              <a:t>The 'Zero Discharge' trap has hit a breaking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Aerial photograph of tailings ponds (300 km²)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539"/>
                </a:solidFill>
              </a:defRPr>
            </a:pPr>
            <a:r>
              <a:t>The Gridlock: Everyone Wants 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56032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Provincial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OSMWSC Report (Sept 2025): Release standards expected 2026-27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005840"/>
            <a:ext cx="256032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Federal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CIWG (Crown-Indigenous): Rights-based approach, slower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05840"/>
            <a:ext cx="2560320" cy="1280160"/>
          </a:xfrm>
          <a:prstGeom prst="rect">
            <a:avLst/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62828"/>
                </a:solidFill>
              </a:defRPr>
            </a:pPr>
            <a:r>
              <a:t>Indigenous Communities</a:t>
            </a:r>
          </a:p>
          <a:p>
            <a:pPr>
              <a:defRPr sz="1100" i="1">
                <a:solidFill>
                  <a:srgbClr val="2C3539"/>
                </a:solidFill>
              </a:defRPr>
            </a:pPr>
            <a:r>
              <a:t>"If you drink the water, we will consider release"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8046720" cy="1188720"/>
          </a:xfrm>
          <a:prstGeom prst="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F57C00"/>
                </a:solidFill>
              </a:defRPr>
            </a:pPr>
            <a:r>
              <a:t>The Problem: Trust is Broken</a:t>
            </a:r>
          </a:p>
          <a:p>
            <a:pPr>
              <a:spcAft>
                <a:spcPts val="600"/>
              </a:spcAft>
              <a:defRPr sz="1300">
                <a:solidFill>
                  <a:srgbClr val="2C3539"/>
                </a:solidFill>
              </a:defRPr>
            </a:pPr>
            <a:r>
              <a:t>Release is inevitable—everyone agrees on that. But past incidents where contamination couldn't be quickly verified have eroded confidence.</a:t>
            </a:r>
          </a:p>
          <a:p>
            <a:pPr>
              <a:defRPr sz="1300">
                <a:solidFill>
                  <a:srgbClr val="2C3539"/>
                </a:solidFill>
              </a:defRPr>
            </a:pPr>
            <a:r>
              <a:t>The Indigenous 'Red Line' is safety. They need verifiable proof, not promises.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86200"/>
            <a:ext cx="80467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Without trust, there is no path to release—and no path to reclamation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Split-screen showing Provincial, Federal, and Indigenous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C3539"/>
                </a:solidFill>
              </a:defRPr>
            </a:pPr>
            <a:r>
              <a:t>The Gap: You Can't Regulate What You Can't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16161"/>
                </a:solidFill>
              </a:defRPr>
            </a:pPr>
            <a:r>
              <a:t>Naphthenic Acids (NAs) are the enemy. Operators are flying blind.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840480" cy="1463040"/>
          </a:xfrm>
          <a:prstGeom prst="rect">
            <a:avLst/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spcAft>
                <a:spcPts val="400"/>
              </a:spcAft>
              <a:defRPr sz="1800" b="1">
                <a:solidFill>
                  <a:srgbClr val="C62828"/>
                </a:solidFill>
              </a:defRPr>
            </a:pPr>
            <a:r>
              <a:t>FTIR</a:t>
            </a:r>
          </a:p>
          <a:p>
            <a:pPr>
              <a:spcAft>
                <a:spcPts val="800"/>
              </a:spcAft>
              <a:defRPr sz="1300" b="1">
                <a:solidFill>
                  <a:srgbClr val="2C3539"/>
                </a:solidFill>
              </a:defRPr>
            </a:pPr>
            <a:r>
              <a:t>Fast but Inaccurate</a:t>
            </a:r>
          </a:p>
          <a:p>
            <a:pPr>
              <a:spcAft>
                <a:spcPts val="300"/>
              </a:spcAft>
              <a:defRPr sz="1100">
                <a:solidFill>
                  <a:srgbClr val="2C3539"/>
                </a:solidFill>
              </a:defRPr>
            </a:pPr>
            <a:r>
              <a:t>• Results in minutes</a:t>
            </a:r>
          </a:p>
          <a:p>
            <a:pPr>
              <a:spcAft>
                <a:spcPts val="300"/>
              </a:spcAft>
              <a:defRPr sz="1100">
                <a:solidFill>
                  <a:srgbClr val="2C3539"/>
                </a:solidFill>
              </a:defRPr>
            </a:pPr>
            <a:r>
              <a:t>• Not NA-specific—measures all acidity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• High false positive/negative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3840480" cy="1463040"/>
          </a:xfrm>
          <a:prstGeom prst="rect">
            <a:avLst/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spcAft>
                <a:spcPts val="400"/>
              </a:spcAft>
              <a:defRPr sz="1800" b="1">
                <a:solidFill>
                  <a:srgbClr val="C62828"/>
                </a:solidFill>
              </a:defRPr>
            </a:pPr>
            <a:r>
              <a:t>Mass Spec (HRMS)</a:t>
            </a:r>
          </a:p>
          <a:p>
            <a:pPr>
              <a:spcAft>
                <a:spcPts val="800"/>
              </a:spcAft>
              <a:defRPr sz="1300" b="1">
                <a:solidFill>
                  <a:srgbClr val="2C3539"/>
                </a:solidFill>
              </a:defRPr>
            </a:pPr>
            <a:r>
              <a:t>Accurate but Too Slow</a:t>
            </a:r>
          </a:p>
          <a:p>
            <a:pPr>
              <a:spcAft>
                <a:spcPts val="300"/>
              </a:spcAft>
              <a:defRPr sz="1100">
                <a:solidFill>
                  <a:srgbClr val="2C3539"/>
                </a:solidFill>
              </a:defRPr>
            </a:pPr>
            <a:r>
              <a:t>• 4-8 weeks for results</a:t>
            </a:r>
          </a:p>
          <a:p>
            <a:pPr>
              <a:spcAft>
                <a:spcPts val="300"/>
              </a:spcAft>
              <a:defRPr sz="1100">
                <a:solidFill>
                  <a:srgbClr val="2C3539"/>
                </a:solidFill>
              </a:defRPr>
            </a:pPr>
            <a:r>
              <a:t>• $500-$1,000 per sample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• Not designed to scale operationally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8046720" cy="1280160"/>
          </a:xfrm>
          <a:prstGeom prst="rect">
            <a:avLst/>
          </a:prstGeom>
          <a:solidFill>
            <a:srgbClr val="FFF3E0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28016"/>
          <a:lstStyle/>
          <a:p>
            <a:pPr algn="ctr">
              <a:spcAft>
                <a:spcPts val="800"/>
              </a:spcAft>
              <a:defRPr sz="1800" b="1">
                <a:solidFill>
                  <a:srgbClr val="F57C00"/>
                </a:solidFill>
              </a:defRPr>
            </a:pPr>
            <a:r>
              <a:t>The Dangerous Gap</a:t>
            </a:r>
          </a:p>
          <a:p>
            <a:pPr>
              <a:spcAft>
                <a:spcPts val="800"/>
              </a:spcAft>
              <a:defRPr sz="1400">
                <a:solidFill>
                  <a:srgbClr val="2C3539"/>
                </a:solidFill>
              </a:defRPr>
            </a:pPr>
            <a:r>
              <a:t>Current tools force an impossible choice: Fast OR Accurate. Not both.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Real Example: Multi-season wetland study took only 9 NA samples over two field seasons. NA degradation declined mid-season—but wasn't discovered until 6 months later. Too late to adjust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Side-by-side comparison showing 'Fast/Inaccurate' vs 'Slow/Accurate'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539"/>
                </a:solidFill>
              </a:defRPr>
            </a:pPr>
            <a:r>
              <a:t>The Solution: Operational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16161"/>
                </a:solidFill>
              </a:defRPr>
            </a:pPr>
            <a:r>
              <a:t>We don't replace the lab—we operationalize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8046720" cy="914400"/>
          </a:xfrm>
          <a:prstGeom prst="rect">
            <a:avLst/>
          </a:prstGeom>
          <a:solidFill>
            <a:srgbClr val="F3E5F5"/>
          </a:solidFill>
          <a:ln w="381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600" b="1">
                <a:solidFill>
                  <a:srgbClr val="6A1B9A"/>
                </a:solidFill>
              </a:defRPr>
            </a:pPr>
            <a:r>
              <a:t>Tier 3: Intelligence Layer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Confluent Platform: Correlates all data streams (biosensor + HRMS + SCADA + weather + treatment logs) in real-time. Provides context, dashboards for operators, immutable audit trail for regulators and communities.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04288"/>
            <a:ext cx="8046720" cy="914400"/>
          </a:xfrm>
          <a:prstGeom prst="rect">
            <a:avLst/>
          </a:prstGeom>
          <a:solidFill>
            <a:srgbClr val="E3F2FD"/>
          </a:solidFill>
          <a:ln w="508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Tier 2: Operational Monitoring (The Bridge)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Luminous Biosensor: 24-72 hour turnaround. Daily to weekly operational screening. Detects bioavailable NAs—the fraction that correlates with toxicity. This is the missing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28416"/>
            <a:ext cx="8046720" cy="914400"/>
          </a:xfrm>
          <a:prstGeom prst="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Tier 1: Regulatory Compliance (Gold Standard)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HRMS (Mass Spec): Quarterly validation, regulatory reporting, forensic analysis. This remains the compliance standard—we make it more valuable by providing operational context between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8046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Peer-reviewed (ACS Synthetic Biology, 2024) • Field-validated (Kearl wetlands) • CDL Energy Stream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Tech Stack diagram showing three layers building on each 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C3539"/>
                </a:solidFill>
              </a:defRPr>
            </a:pPr>
            <a:r>
              <a:t>The Value: Maybe This Isn't So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16161"/>
                </a:solidFill>
              </a:defRPr>
            </a:pPr>
            <a:r>
              <a:t>Turning environmental cost into balance sheet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046720" cy="59436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Combined Asset Retirement Obligations: $20+ Billion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Discounted over ~60 years at 4.8-6.0% • CNRL ($1.9B) + Suncor ($12.3B) + Imperial ($2.6B)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C3539"/>
                </a:solidFill>
              </a:defRPr>
            </a:pPr>
            <a:r>
              <a:t>The Unlock Mechanism:</a:t>
            </a:r>
          </a:p>
          <a:p>
            <a:pPr>
              <a:spcAft>
                <a:spcPts val="1200"/>
              </a:spcAft>
              <a:defRPr sz="1300">
                <a:solidFill>
                  <a:srgbClr val="2C3539"/>
                </a:solidFill>
              </a:defRPr>
            </a:pPr>
            <a:r>
              <a:t>The more monitoring data you gather on remediation progress, the better your confidence in ARO estimates. Better confidence allows less conservative assumptions.</a:t>
            </a:r>
          </a:p>
          <a:p>
            <a:pPr>
              <a:spcAft>
                <a:spcPts val="600"/>
              </a:spcAft>
              <a:defRPr sz="1300" b="1">
                <a:solidFill>
                  <a:srgbClr val="0288D1"/>
                </a:solidFill>
              </a:defRPr>
            </a:pPr>
            <a:r>
              <a:t>• Reducing monitoring timelines by just 1 year unlocks ~$90M in present value</a:t>
            </a:r>
          </a:p>
          <a:p>
            <a:pPr>
              <a:spcAft>
                <a:spcPts val="600"/>
              </a:spcAft>
              <a:defRPr sz="1300" b="1">
                <a:solidFill>
                  <a:srgbClr val="0288D1"/>
                </a:solidFill>
              </a:defRPr>
            </a:pPr>
            <a:r>
              <a:t>• Better confidence on treatment effectiveness → more attractive discount rates</a:t>
            </a:r>
          </a:p>
          <a:p>
            <a:pPr>
              <a:defRPr sz="1300" b="1">
                <a:solidFill>
                  <a:srgbClr val="0288D1"/>
                </a:solidFill>
              </a:defRPr>
            </a:pPr>
            <a:r>
              <a:t>• This pays for itself by de-risking the balance 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8046720" cy="868680"/>
          </a:xfrm>
          <a:prstGeom prst="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57C00"/>
                </a:solidFill>
              </a:defRPr>
            </a:pPr>
            <a:r>
              <a:t>This is information technology for biological risk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High-frequency monitoring → Better data fidelity → Reduced uncertainty → Less conservative ARO assumptions → Improved balance sheets. Plus operational efficiency ($260k/year validated) and social license through transparency.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Lever reducing a stack of liability blocks • Source: Zhang ARO Analysis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C3539"/>
                </a:solidFill>
              </a:defRPr>
            </a:pPr>
            <a:r>
              <a:t>The Future: From Containment to Restoration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8046720" cy="1005840"/>
          </a:xfrm>
          <a:prstGeom prst="rect">
            <a:avLst/>
          </a:prstGeom>
          <a:solidFill>
            <a:srgbClr val="E8F5E9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000"/>
              </a:spcAft>
              <a:defRPr sz="2000" b="1">
                <a:solidFill>
                  <a:srgbClr val="2E7D32"/>
                </a:solidFill>
              </a:defRPr>
            </a:pPr>
            <a:r>
              <a:t>Total Confidence for All Stakeholders</a:t>
            </a:r>
          </a:p>
          <a:p>
            <a:pPr>
              <a:defRPr sz="1400">
                <a:solidFill>
                  <a:srgbClr val="2C3539"/>
                </a:solidFill>
              </a:defRPr>
            </a:pPr>
            <a:r>
              <a:t>We provide the data fidelity required to finally close the mines and restore the land. Not promises—proof.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539"/>
                </a:solidFill>
              </a:defRPr>
            </a:pPr>
            <a:r>
              <a:t>• Operators gain operational confidence to optimize treatment in real-time</a:t>
            </a:r>
          </a:p>
          <a:p>
            <a:pPr>
              <a:spcAft>
                <a:spcPts val="800"/>
              </a:spcAft>
              <a:defRPr sz="1300">
                <a:solidFill>
                  <a:srgbClr val="2C3539"/>
                </a:solidFill>
              </a:defRPr>
            </a:pPr>
            <a:r>
              <a:t>• Regulators receive evidence-based data for release decisions with audit trails</a:t>
            </a:r>
          </a:p>
          <a:p>
            <a:pPr>
              <a:spcAft>
                <a:spcPts val="800"/>
              </a:spcAft>
              <a:defRPr sz="1300">
                <a:solidFill>
                  <a:srgbClr val="2C3539"/>
                </a:solidFill>
              </a:defRPr>
            </a:pPr>
            <a:r>
              <a:t>• Indigenous communities see transparent, verifiable progress toward safety</a:t>
            </a:r>
          </a:p>
          <a:p>
            <a:pPr>
              <a:spcAft>
                <a:spcPts val="1600"/>
              </a:spcAft>
              <a:defRPr sz="1300" b="1">
                <a:solidFill>
                  <a:srgbClr val="2E7D32"/>
                </a:solidFill>
              </a:defRPr>
            </a:pPr>
            <a:r>
              <a:t>• The environment: Treated water returned to the Athabasca River. Land reclaimed as pristine boreal forest. The circle closes.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8046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This isn't just about cleaning up the past—it's about building the confidence to reclaim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Visual: Pristine reclaimed boreal lake with forest surroundings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16161"/>
                </a:solidFill>
              </a:defRPr>
            </a:pPr>
            <a:r>
              <a:t>Luminous BioSolutions • Jeff Violo, COO • jeff@luminousbiosolutions.com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