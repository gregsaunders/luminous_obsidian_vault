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539"/>
                </a:solidFill>
              </a:defRPr>
            </a:pPr>
            <a:r>
              <a:t>Alberta's Oil Sands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288D1"/>
                </a:solidFill>
              </a:defRPr>
            </a:pPr>
            <a:r>
              <a:t>The Monitoring Gap Blocking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16161"/>
                </a:solidFill>
              </a:defRPr>
            </a:pPr>
            <a:r>
              <a:t>Luminous BioSolutions</a:t>
            </a:r>
          </a:p>
          <a:p>
            <a:r>
              <a:t>Science-backed monitoring for water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Problem: Massive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57C00"/>
                </a:solidFill>
              </a:defRPr>
            </a:pPr>
            <a:r>
              <a:t>1.4 Trillion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539"/>
                </a:solidFill>
              </a:defRPr>
            </a:pPr>
            <a:r>
              <a:t>Litres of tailings water</a:t>
            </a:r>
          </a:p>
          <a:p>
            <a:r>
              <a:t>560,000 Olympic pools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57C00"/>
                </a:solidFill>
              </a:defRPr>
            </a:pPr>
            <a:r>
              <a:t>300 km²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539"/>
                </a:solidFill>
              </a:defRPr>
            </a:pPr>
            <a:r>
              <a:t>Tailings pond footprint</a:t>
            </a:r>
          </a:p>
          <a:p>
            <a:r>
              <a:t>Size of Calgary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539"/>
                </a:solidFill>
              </a:defRPr>
            </a:pPr>
            <a:r>
              <a:t>60+ years of "Zero Discharge" policy</a:t>
            </a:r>
          </a:p>
          <a:p>
            <a:pPr>
              <a:defRPr sz="1400"/>
            </a:pPr>
            <a:r>
              <a:t>• Water recycled or stored indefinitely - never released</a:t>
            </a:r>
          </a:p>
          <a:p>
            <a:pPr>
              <a:defRPr sz="1400"/>
            </a:pPr>
            <a:r>
              <a:t>• Naphthenic Acids (NAs) are the primary blocker preventing regulatory approval</a:t>
            </a:r>
          </a:p>
          <a:p>
            <a:pPr>
              <a:defRPr sz="1400"/>
            </a:pPr>
            <a:r>
              <a:t>• No treatment targets existed because release was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Source: Alberta Energy Regulator,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Implication: Crisis Converging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384048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Economic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Double oil production requires more water. Without NA reduction, production constrained.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097280"/>
            <a:ext cx="384048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Physical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1.4T litres approaching capacity limits. Ponds growing faster than evaporation.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384048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Regulatory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Release standards expected 2026-27. NAs explicitly identified as key contaminant.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560320"/>
            <a:ext cx="384048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600" b="1">
                <a:solidFill>
                  <a:srgbClr val="0288D1"/>
                </a:solidFill>
              </a:defRPr>
            </a:pPr>
            <a:r>
              <a:t>Social License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Indigenous communities demand verifiable NA proof. "If you drink the water, we will consider release."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804672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7C00"/>
                </a:solidFill>
              </a:defRPr>
            </a:pPr>
            <a:r>
              <a:t>The status quo—indefinite containment—is no longer sustainable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Source: OSMWSC Report, September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Gap: Monitoring Cannot Keep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C3539"/>
                </a:solidFill>
              </a:defRPr>
            </a:pPr>
            <a:r>
              <a:t>Treatment technologies exist. But operators are flying blind.</a:t>
            </a:r>
          </a:p>
          <a:p>
            <a:pPr>
              <a:defRPr sz="1400">
                <a:solidFill>
                  <a:srgbClr val="616161"/>
                </a:solidFill>
              </a:defRPr>
            </a:pPr>
            <a:r>
              <a:t>The test that's fast enough (FTIR) is too inaccurate. The test that's accurate enough (HRMS) is too slow and expensive.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84048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C62828"/>
                </a:solidFill>
              </a:defRPr>
            </a:pPr>
            <a:r>
              <a:t>FTIR Screening</a:t>
            </a:r>
          </a:p>
          <a:p>
            <a:pPr>
              <a:spcAft>
                <a:spcPts val="600"/>
              </a:spcAft>
              <a:defRPr sz="1200" b="1">
                <a:solidFill>
                  <a:srgbClr val="2C3539"/>
                </a:solidFill>
              </a:defRPr>
            </a:pPr>
            <a:r>
              <a:t>Fast but inaccurate</a:t>
            </a:r>
          </a:p>
          <a:p>
            <a:pPr>
              <a:defRPr sz="1100"/>
            </a:pPr>
            <a:r>
              <a:t>• Results in minutes</a:t>
            </a:r>
          </a:p>
          <a:p>
            <a:pPr>
              <a:defRPr sz="1100"/>
            </a:pPr>
            <a:r>
              <a:t>• Cannot distinguish toxic NAs from harmless organics</a:t>
            </a:r>
          </a:p>
          <a:p>
            <a:pPr>
              <a:defRPr sz="1100"/>
            </a:pPr>
            <a:r>
              <a:t>• High false positive/negative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920240"/>
            <a:ext cx="384048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C62828"/>
                </a:solidFill>
              </a:defRPr>
            </a:pPr>
            <a:r>
              <a:t>HRMS (Gold Standard)</a:t>
            </a:r>
          </a:p>
          <a:p>
            <a:pPr>
              <a:spcAft>
                <a:spcPts val="600"/>
              </a:spcAft>
              <a:defRPr sz="1200" b="1">
                <a:solidFill>
                  <a:srgbClr val="2C3539"/>
                </a:solidFill>
              </a:defRPr>
            </a:pPr>
            <a:r>
              <a:t>Accurate but too slow</a:t>
            </a:r>
          </a:p>
          <a:p>
            <a:pPr>
              <a:defRPr sz="1100"/>
            </a:pPr>
            <a:r>
              <a:t>• 4-8 weeks for results</a:t>
            </a:r>
          </a:p>
          <a:p>
            <a:pPr>
              <a:defRPr sz="1100"/>
            </a:pPr>
            <a:r>
              <a:t>• $500-$1,000 per sample</a:t>
            </a:r>
          </a:p>
          <a:p>
            <a:pPr>
              <a:defRPr sz="1100"/>
            </a:pPr>
            <a:r>
              <a:t>• Cannot run inline at treatment plants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8046720" cy="640080"/>
          </a:xfrm>
          <a:prstGeom prst="rect">
            <a:avLst/>
          </a:prstGeom>
          <a:solidFill>
            <a:srgbClr val="FFF3E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F57C00"/>
                </a:solidFill>
              </a:defRPr>
            </a:pPr>
            <a:r>
              <a:t>Real Example: Multi-season wetland study</a:t>
            </a:r>
          </a:p>
          <a:p>
            <a:pPr>
              <a:defRPr sz="1400">
                <a:solidFill>
                  <a:srgbClr val="2C3539"/>
                </a:solidFill>
              </a:defRPr>
            </a:pPr>
            <a:r>
              <a:t>9 NA samples over two field seasons. Degradation decline detected 6 months too late to optimize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Source: Kearl GROW Wetland Study, 2024-2025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Solution: Bridge the Monitoring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651760" cy="16459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400" b="1">
                <a:solidFill>
                  <a:srgbClr val="2E7D32"/>
                </a:solidFill>
              </a:defRPr>
            </a:pPr>
            <a:r>
              <a:t>Tier 1: Compliance</a:t>
            </a:r>
          </a:p>
          <a:p>
            <a:pPr>
              <a:spcAft>
                <a:spcPts val="400"/>
              </a:spcAft>
              <a:defRPr sz="1200" b="1">
                <a:solidFill>
                  <a:srgbClr val="2C3539"/>
                </a:solidFill>
              </a:defRPr>
            </a:pPr>
            <a:r>
              <a:t>HRMS (Gold Standard)</a:t>
            </a:r>
          </a:p>
          <a:p>
            <a:pPr>
              <a:defRPr sz="1100"/>
            </a:pPr>
            <a:r>
              <a:t>• Quarterly validation</a:t>
            </a:r>
          </a:p>
          <a:p>
            <a:pPr>
              <a:defRPr sz="1100"/>
            </a:pPr>
            <a:r>
              <a:t>• Regulatory reporting</a:t>
            </a:r>
          </a:p>
          <a:p>
            <a:pPr>
              <a:defRPr sz="1100"/>
            </a:pPr>
            <a:r>
              <a:t>• Forensic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solidFill>
            <a:srgbClr val="E3F2FD"/>
          </a:solidFill>
          <a:ln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400" b="1">
                <a:solidFill>
                  <a:srgbClr val="0288D1"/>
                </a:solidFill>
              </a:defRPr>
            </a:pPr>
            <a:r>
              <a:t>Tier 2: Operations</a:t>
            </a:r>
          </a:p>
          <a:p>
            <a:pPr>
              <a:spcAft>
                <a:spcPts val="400"/>
              </a:spcAft>
              <a:defRPr sz="1200" b="1">
                <a:solidFill>
                  <a:srgbClr val="2C3539"/>
                </a:solidFill>
              </a:defRPr>
            </a:pPr>
            <a:r>
              <a:t>Luminous Biosensor</a:t>
            </a:r>
          </a:p>
          <a:p>
            <a:pPr>
              <a:defRPr sz="1100"/>
            </a:pPr>
            <a:r>
              <a:t>• 24-72 hour turnaround</a:t>
            </a:r>
          </a:p>
          <a:p>
            <a:pPr>
              <a:defRPr sz="1100"/>
            </a:pPr>
            <a:r>
              <a:t>• Daily to weekly monitoring</a:t>
            </a:r>
          </a:p>
          <a:p>
            <a:pPr>
              <a:defRPr sz="1100"/>
            </a:pPr>
            <a:r>
              <a:t>• Bioavailable NA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005840"/>
            <a:ext cx="2651760" cy="1645920"/>
          </a:xfrm>
          <a:prstGeom prst="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400" b="1">
                <a:solidFill>
                  <a:srgbClr val="6A1B9A"/>
                </a:solidFill>
              </a:defRPr>
            </a:pPr>
            <a:r>
              <a:t>Tier 3: Intelligence</a:t>
            </a:r>
          </a:p>
          <a:p>
            <a:pPr>
              <a:spcAft>
                <a:spcPts val="400"/>
              </a:spcAft>
              <a:defRPr sz="1200" b="1">
                <a:solidFill>
                  <a:srgbClr val="2C3539"/>
                </a:solidFill>
              </a:defRPr>
            </a:pPr>
            <a:r>
              <a:t>Confluent Platform</a:t>
            </a:r>
          </a:p>
          <a:p>
            <a:pPr>
              <a:defRPr sz="1100"/>
            </a:pPr>
            <a:r>
              <a:t>• Real-time correlation</a:t>
            </a:r>
          </a:p>
          <a:p>
            <a:pPr>
              <a:defRPr sz="1100"/>
            </a:pPr>
            <a:r>
              <a:t>• Multi-stakeholder dashboards</a:t>
            </a:r>
          </a:p>
          <a:p>
            <a:pPr>
              <a:defRPr sz="1100"/>
            </a:pPr>
            <a:r>
              <a:t>• Immutable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8046720" cy="73152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2E7D32"/>
                </a:solidFill>
              </a:defRPr>
            </a:pPr>
            <a:r>
              <a:t>Peer-Reviewed &amp; Field-Validated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ACS Synthetic Biology (2024) publication. Field-tested in multi-season Kearl wetland study with high correlation to Orbitrap Mass Spec. Accepted to Creative Destruction Lab Energy Stream (2025).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C3539"/>
                </a:solidFill>
              </a:defRPr>
            </a:pPr>
            <a:r>
              <a:t>Not replacement—integration. Making HRMS more valuable with operational context and stakeholder transparency.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Bookout et al., ACS Synthetic Biology,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Path Forward: Total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288D1"/>
                </a:solidFill>
              </a:defRPr>
            </a:pPr>
            <a:r>
              <a:t>Desired Outcomes for All Stakeholders</a:t>
            </a:r>
          </a:p>
          <a:p>
            <a:pPr>
              <a:defRPr sz="1300"/>
            </a:pPr>
            <a:r>
              <a:t>• Operators: Prove treatment effectiveness with verifiable data, optimize processes in real-time</a:t>
            </a:r>
          </a:p>
          <a:p>
            <a:pPr>
              <a:defRPr sz="1300"/>
            </a:pPr>
            <a:r>
              <a:t>• Regulators: Evidence-based release decisions with immutable audit trail</a:t>
            </a:r>
          </a:p>
          <a:p>
            <a:pPr>
              <a:defRPr sz="1300"/>
            </a:pPr>
            <a:r>
              <a:t>• Indigenous Communities: Transparent progress monitoring demonstrating safe NA reduction</a:t>
            </a:r>
          </a:p>
          <a:p>
            <a:pPr>
              <a:defRPr sz="1300"/>
            </a:pPr>
            <a:r>
              <a:t>• Environment: Safe water release to Athabasca River, land restoration to original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51760"/>
            <a:ext cx="8046720" cy="548640"/>
          </a:xfrm>
          <a:prstGeom prst="rect">
            <a:avLst/>
          </a:prstGeom>
          <a:solidFill>
            <a:srgbClr val="E3F2FD"/>
          </a:solidFill>
          <a:ln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600" b="1">
                <a:solidFill>
                  <a:srgbClr val="0288D1"/>
                </a:solidFill>
              </a:defRPr>
            </a:pPr>
            <a:r>
              <a:t>Validated Value: $260k/Year Per Site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From Kearl pilot: Extended operating season, spatial optimization, reduced bio-assays, faster incident detection, regulatory readiness.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265176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300" b="1">
                <a:solidFill>
                  <a:srgbClr val="F57C00"/>
                </a:solidFill>
              </a:defRPr>
            </a:pPr>
            <a:r>
              <a:t>For Operators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Pilot program discussions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3383280"/>
            <a:ext cx="265176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300" b="1">
                <a:solidFill>
                  <a:srgbClr val="F57C00"/>
                </a:solidFill>
              </a:defRPr>
            </a:pPr>
            <a:r>
              <a:t>For Investors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Partnership exploration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383280"/>
            <a:ext cx="265176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300" b="1">
                <a:solidFill>
                  <a:srgbClr val="F57C00"/>
                </a:solidFill>
              </a:defRPr>
            </a:pPr>
            <a:r>
              <a:t>For Stakeholders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Technical briefing on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539"/>
                </a:solidFill>
              </a:defRPr>
            </a:pPr>
            <a:r>
              <a:t>Luminous BioSolutions • luminousbiosolutions.com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Contact: Jeff Violo, COO • jeff@luminousbiosolutions.com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